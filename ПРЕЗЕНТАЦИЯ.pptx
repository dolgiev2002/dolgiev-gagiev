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4" r:id="rId6"/>
    <p:sldId id="263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F566F-CC39-C459-DCA9-4433F17E1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1B7940-51A6-26D8-B956-0C8751BC7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48C962-F3C7-E05F-FA5D-88D192BA7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51D8-A38F-52E4-E541-293FFACF3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6E7573-E570-7C60-CD35-54AA19E25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194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E6A94-8500-0F48-EAB3-B39FEFF3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AC8CA3-26C0-CB0A-0FD7-761A6A86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202FDE-92CA-1074-E4CD-55E0CCCF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11117A-9076-76AA-B9D9-6491B181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EA18BF-A16E-F0F6-ED15-E083F596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695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D2D634-C097-7CE5-2B36-85CE817D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A296A5-44D9-72EB-49E0-16156CDF7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54D7B8-1A43-7574-C4D1-FA3FF18C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47A1AA-6060-DD1A-2C16-76B5D4CA2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9B52C7-78E3-F679-9BDF-53221990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41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CAD59-35BF-8516-208E-91B454A6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0309FC-DC54-B799-45F0-240EE5006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FCD17E-7D78-F1F7-E0A9-53A1B7AA2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B712BF-42FA-A393-CB64-349352DC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56903B-289C-CE34-57BF-B4E4A1E1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7865FE-212A-248F-7A9C-B1581A1A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7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2C203-F63D-4FB8-68C1-68DD2151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C893DE-6145-39EF-07F9-9C251D669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C9A99D-1FB4-0095-85FB-7AB6C197B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70E5D4-7D2E-AF4E-7B6E-3D74B3BC5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55332B-861F-C2C9-C9B8-D9F828145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77E25D-6D70-F22E-3680-56D2E169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E253F83-4F38-72C2-D130-DA477A81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16B39D-A408-A622-8628-6C4793EE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76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0CB55-848A-4881-0FA2-43D292B2E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9056724-9099-6333-6854-23F7DE812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663FD92-3163-7D4D-305C-378AAC7D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230C40-36E6-CC6E-E5DD-B5B92285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51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D88B630-B978-AC42-B402-110BC352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222DC-53CD-3218-59B9-EC7189CA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5A8CD1-2160-A26E-D14C-FBB037A2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5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AC8AE-FE85-3D85-1A6B-A3449BF0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B56C45-C6E5-2C79-27FB-26F91973C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C535C3-407A-BE04-FBD8-853408561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BE065C-2454-DC36-0F36-9673A7F7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ED8262-0AEC-916C-01AF-892711E8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CD53EF-6E4E-C166-1315-9BB763CF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7780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A8BC1-363A-CAAA-2615-DD7A659A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D631100-839E-29BA-4BFA-CA7E0C461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0A7A7D-4963-CF7C-A5BD-EA49FCF66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532914-3211-6AA1-7855-2EAFD0D3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72A0B5-045F-E5BC-0B7D-81684DD0D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51B306-D497-EDD6-A5B0-8D81BBE3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0FA90-F223-57C7-F137-FB8649CD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4F27B5-5591-87FF-5170-BD96B36CA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776485-F688-F808-99FD-3D4C29C5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22DE2-78FA-0F23-F4E5-CE21CE86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DA5EF9-CA49-E7AC-BF4E-AEFC8A1D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386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C024B2-E2E7-F83D-F211-51B5A9B962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D2854B-D44D-CA9D-7753-51F9FE355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7D59DB-C9DD-56BE-F8F1-8A853D97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955AB3-A23A-89FC-64F3-B2FC480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E5A590-814C-87D6-93A9-CADE435A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62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9997F-74ED-1B2B-DF0F-8B393B66F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FDF0DB-9BDE-EDEA-4D00-CC793B007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E6BD8F-5C1F-801A-0804-FD7E8D23E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29424-3551-466E-B31A-ACBB6916A958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03C04F-FFB1-2FF3-54FF-9CF112093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72A1A5-5709-6DA4-36CC-F9E8E848D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AE357-08A0-4E93-AAE2-2F73B0BBE0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08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19F3CE-A95E-73FC-DD0A-016CF8C08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E1B5CA-958F-E2E0-4C36-1948B45EC10A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6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Цель, объект и предмет исследования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69E1C-6119-C1E1-291B-D545F6048EA2}"/>
              </a:ext>
            </a:extLst>
          </p:cNvPr>
          <p:cNvSpPr txBox="1"/>
          <p:nvPr/>
        </p:nvSpPr>
        <p:spPr>
          <a:xfrm>
            <a:off x="533400" y="1446431"/>
            <a:ext cx="984884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Цель исследования:</a:t>
            </a:r>
            <a:r>
              <a:rPr lang="ru-RU" sz="2000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Повышение уровня автоматизации процессов принятия управленческих решений на предприятии на основе разработки экспертно-аналитической системы оценки цифровой зрелости организации.</a:t>
            </a:r>
          </a:p>
          <a:p>
            <a:endParaRPr lang="ru-RU" sz="2000" dirty="0">
              <a:solidFill>
                <a:schemeClr val="accent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   Объект исследования</a:t>
            </a:r>
            <a:r>
              <a:rPr lang="ru-RU" sz="2000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 Методологии и программные средства оценки цифровой зрелости предприятия.</a:t>
            </a:r>
          </a:p>
          <a:p>
            <a:endParaRPr lang="ru-RU" sz="2000" dirty="0">
              <a:solidFill>
                <a:schemeClr val="accent1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r>
              <a:rPr lang="ru-RU" sz="2000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    </a:t>
            </a:r>
            <a:r>
              <a:rPr lang="ru-RU" sz="2000" b="1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Предмет исследования</a:t>
            </a:r>
            <a:r>
              <a:rPr lang="ru-RU" sz="2000" dirty="0">
                <a:solidFill>
                  <a:schemeClr val="accent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: применение современных методик оценки цифровой зрелости организации, для развития технологий цифровизации.</a:t>
            </a:r>
          </a:p>
        </p:txBody>
      </p:sp>
    </p:spTree>
    <p:extLst>
      <p:ext uri="{BB962C8B-B14F-4D97-AF65-F5344CB8AC3E}">
        <p14:creationId xmlns:p14="http://schemas.microsoft.com/office/powerpoint/2010/main" val="558644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C2530-01EE-C6DB-B821-D14E8EE1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C070923-6237-D2E0-F7AF-BFF34493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C2B228-42AF-8D2C-4CAA-C472F170CD47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6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Задачи исследования</a:t>
            </a:r>
            <a:endParaRPr lang="ru-RU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24AA0ED-AA63-9813-944B-9DDA9ACEA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610439"/>
              </p:ext>
            </p:extLst>
          </p:nvPr>
        </p:nvGraphicFramePr>
        <p:xfrm>
          <a:off x="1182687" y="1735768"/>
          <a:ext cx="9826626" cy="38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313">
                  <a:extLst>
                    <a:ext uri="{9D8B030D-6E8A-4147-A177-3AD203B41FA5}">
                      <a16:colId xmlns:a16="http://schemas.microsoft.com/office/drawing/2014/main" val="1818686615"/>
                    </a:ext>
                  </a:extLst>
                </a:gridCol>
                <a:gridCol w="4913313">
                  <a:extLst>
                    <a:ext uri="{9D8B030D-6E8A-4147-A177-3AD203B41FA5}">
                      <a16:colId xmlns:a16="http://schemas.microsoft.com/office/drawing/2014/main" val="550507905"/>
                    </a:ext>
                  </a:extLst>
                </a:gridCol>
              </a:tblGrid>
              <a:tr h="441058">
                <a:tc>
                  <a:txBody>
                    <a:bodyPr/>
                    <a:lstStyle/>
                    <a:p>
                      <a:r>
                        <a:rPr lang="ru-RU" dirty="0"/>
                        <a:t>Задача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Подзадача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7420"/>
                  </a:ext>
                </a:extLst>
              </a:tr>
              <a:tr h="9818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Анализ существующих методологий и программных</a:t>
                      </a:r>
                      <a:r>
                        <a:rPr lang="ru-RU" baseline="0" dirty="0">
                          <a:latin typeface="+mn-lt"/>
                          <a:cs typeface="Times New Roman" panose="02020603050405020304" pitchFamily="18" charset="0"/>
                        </a:rPr>
                        <a:t> средств анализа цифровой зрелости</a:t>
                      </a:r>
                      <a:r>
                        <a:rPr lang="en-US" baseline="0" dirty="0">
                          <a:latin typeface="+mn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aseline="0" dirty="0">
                          <a:latin typeface="+mn-lt"/>
                          <a:cs typeface="Times New Roman" panose="02020603050405020304" pitchFamily="18" charset="0"/>
                        </a:rPr>
                        <a:t>организации.</a:t>
                      </a:r>
                      <a:endParaRPr lang="ru-RU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Анализ существующих подходов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Определение актуальности 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Сравнение существующих решений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Определение стека технологий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57597"/>
                  </a:ext>
                </a:extLst>
              </a:tr>
              <a:tr h="98180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Формирование списка требований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Постановка требований к ИС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Разработка информационной модели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Разработка внедрение методологии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759392"/>
                  </a:ext>
                </a:extLst>
              </a:tr>
              <a:tr h="98180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Разработка функционала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Выбор архитектуры ИС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Разработка интерфейса приложения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Разработка серверной</a:t>
                      </a:r>
                      <a:r>
                        <a:rPr lang="ru-RU" baseline="0" dirty="0">
                          <a:latin typeface="+mn-lt"/>
                          <a:cs typeface="Times New Roman" panose="02020603050405020304" pitchFamily="18" charset="0"/>
                        </a:rPr>
                        <a:t> части 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+mn-lt"/>
                          <a:cs typeface="Times New Roman" panose="02020603050405020304" pitchFamily="18" charset="0"/>
                        </a:rPr>
                        <a:t>Тестирование прототипа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91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62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9669-97C7-CE1A-21F4-6F5D49D7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68F79C-AA46-B403-525F-85B87A5BA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902712-EC51-11F5-737D-D8E24E6F6FB0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Выбор технологий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85CCA-510D-7B9A-1458-984C45A2EC09}"/>
              </a:ext>
            </a:extLst>
          </p:cNvPr>
          <p:cNvSpPr txBox="1"/>
          <p:nvPr/>
        </p:nvSpPr>
        <p:spPr>
          <a:xfrm>
            <a:off x="6901066" y="2272992"/>
            <a:ext cx="468153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В рамках разработки данного проекта используется следующий стек технологий</a:t>
            </a: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PHP – </a:t>
            </a:r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как бэкенд язык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Html, </a:t>
            </a:r>
            <a:r>
              <a:rPr lang="en-US" dirty="0" err="1">
                <a:solidFill>
                  <a:schemeClr val="accent1"/>
                </a:solidFill>
                <a:latin typeface="Arial Black" panose="020B0A04020102020204" pitchFamily="34" charset="0"/>
              </a:rPr>
              <a:t>Css</a:t>
            </a: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, JS, Bootstrap, Materialize – </a:t>
            </a:r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как основная часть </a:t>
            </a:r>
            <a:r>
              <a:rPr lang="ru-RU" dirty="0" err="1">
                <a:solidFill>
                  <a:schemeClr val="accent1"/>
                </a:solidFill>
                <a:latin typeface="Arial Black" panose="020B0A04020102020204" pitchFamily="34" charset="0"/>
              </a:rPr>
              <a:t>фрондэнда</a:t>
            </a:r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Nginx – </a:t>
            </a:r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как веб-сервер</a:t>
            </a: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, </a:t>
            </a:r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выполняющий роль прокси между клиентов и бэкендом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Arial Black" panose="020B0A04020102020204" pitchFamily="34" charset="0"/>
              </a:rPr>
              <a:t>MySQL – </a:t>
            </a:r>
            <a:r>
              <a:rPr lang="ru-RU" dirty="0">
                <a:solidFill>
                  <a:schemeClr val="accent1"/>
                </a:solidFill>
                <a:latin typeface="Arial Black" panose="020B0A04020102020204" pitchFamily="34" charset="0"/>
              </a:rPr>
              <a:t>база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0E04676-EE86-4363-158B-CA45DE84C17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3107" y="1260376"/>
            <a:ext cx="5492750" cy="276669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335FA6-469D-60C2-3F51-B155182EE41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33107" y="4444777"/>
            <a:ext cx="5492750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1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93AC3-C6A5-3BC2-B707-D38766DE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B79D915-796B-6C3D-4E59-1E91873AB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478C6B-DB30-ACA0-00CE-BBE1987CE46C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Логическая архитектура системы</a:t>
            </a:r>
            <a:endParaRPr lang="en-US" altLang="ru-RU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ED749-BFE2-62DE-1D1A-656F4F5C9853}"/>
              </a:ext>
            </a:extLst>
          </p:cNvPr>
          <p:cNvSpPr txBox="1"/>
          <p:nvPr/>
        </p:nvSpPr>
        <p:spPr>
          <a:xfrm>
            <a:off x="6817078" y="1117291"/>
            <a:ext cx="4681537" cy="5450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kern="100" dirty="0">
                <a:solidFill>
                  <a:schemeClr val="accent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Пользовательский интерфейс, должен быть понятным и выполнять свою основную функцию, передавать информации от пользователя к системе и обратно. Модуль управления системой авторизует пользователя и его данные, далее передавая их в модуль анализа данных, где будет строиться оценка на основе результатов анализа, а также итоговые рекомендации.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2413C29-A69B-250E-EFFD-FC6942D17D1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476" y="1008281"/>
            <a:ext cx="4032448" cy="54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47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8B31-2F52-D3DA-2337-34DA9E78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E7054F-7020-13A9-684D-8930B1187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F6A929-5E3B-98B5-3D0A-60E99B113FFE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Анкета</a:t>
            </a:r>
            <a:endParaRPr lang="en-US" altLang="ru-RU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186CB-4BB8-A62F-378B-27D0859EF9B3}"/>
              </a:ext>
            </a:extLst>
          </p:cNvPr>
          <p:cNvSpPr txBox="1"/>
          <p:nvPr/>
        </p:nvSpPr>
        <p:spPr>
          <a:xfrm>
            <a:off x="6436078" y="1127419"/>
            <a:ext cx="4681537" cy="4855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kern="100" dirty="0">
                <a:solidFill>
                  <a:schemeClr val="accent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Анкета, представляет собой графическое описание работы одного из двух основных функциональных блоков «Анкета». Сначала пользователь выбирает эту функцию для анализа своей организации, далее он отвечает на вопросы и решает тест. Далее после отправки результатов они отправляются на сервер где проходят в модуль анализа входных данных, после которого сохраняются в базе данных и результаты выводятся пользователю.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4B0F90-A77F-8E30-85F3-CD74869D171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774" y="1138313"/>
            <a:ext cx="2976984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43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A74C-7DC8-1AC5-3643-3E11DD8B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885E2B-EAEC-6C6E-2954-929A45EED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9ECFD4-82D8-CD72-10A5-278058708CA9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Выездная диагностика</a:t>
            </a:r>
            <a:endParaRPr lang="en-US" altLang="ru-RU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AA052-46F6-E3D9-6C00-95E5F7DF03B3}"/>
              </a:ext>
            </a:extLst>
          </p:cNvPr>
          <p:cNvSpPr txBox="1"/>
          <p:nvPr/>
        </p:nvSpPr>
        <p:spPr>
          <a:xfrm>
            <a:off x="6436078" y="1127419"/>
            <a:ext cx="4681537" cy="4855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kern="100" dirty="0">
                <a:solidFill>
                  <a:schemeClr val="accent1"/>
                </a:solidFill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Функциональный блок «Выездная диагностика». Тут пользователь выбирает функцию выездной диагностики, после чего заполняет форму где отвечает на ряд вопросов, после чего эти данные отправляются на сервер, и после обработки модулем диагностики, отправляется сигнал специалисту в админку, после чего они сохраняются в базе данных, а также пользователю выводится сообщение о успешной заполнении формы. 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D9D2DA-D5A9-2BAF-0408-FFF98231659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174" y="827306"/>
            <a:ext cx="3227331" cy="561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0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E24D6-E190-F618-AFFC-8293B01A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8028200-E92D-62F1-AF52-EC64433EB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E43CD3-FA9C-A2CD-DF97-07C87D739B19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Разработка интерфейса сайта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915D57-06B9-EAF5-7973-537FC4B40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4" y="1550996"/>
            <a:ext cx="5020373" cy="22362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F6BBD5-EBA7-07A8-9138-260D472E3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387" y="1550995"/>
            <a:ext cx="5377026" cy="22362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8F31BB-7F8F-4F9B-EC07-4D40F91BB4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210" y="4432762"/>
            <a:ext cx="4947580" cy="22442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3F0E0D-096C-5BF9-ADC4-92EDB226F9D8}"/>
              </a:ext>
            </a:extLst>
          </p:cNvPr>
          <p:cNvSpPr txBox="1"/>
          <p:nvPr/>
        </p:nvSpPr>
        <p:spPr>
          <a:xfrm>
            <a:off x="1871458" y="1045469"/>
            <a:ext cx="3373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</a:rPr>
              <a:t>Вид главной страницы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5A596B-F56C-3753-B50C-F3A894772427}"/>
              </a:ext>
            </a:extLst>
          </p:cNvPr>
          <p:cNvSpPr txBox="1"/>
          <p:nvPr/>
        </p:nvSpPr>
        <p:spPr>
          <a:xfrm>
            <a:off x="8270981" y="1072581"/>
            <a:ext cx="1747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Вид анкеты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58B374-0D6B-75C7-887A-612970A5C520}"/>
              </a:ext>
            </a:extLst>
          </p:cNvPr>
          <p:cNvSpPr txBox="1"/>
          <p:nvPr/>
        </p:nvSpPr>
        <p:spPr>
          <a:xfrm>
            <a:off x="1871458" y="3923431"/>
            <a:ext cx="8559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</a:rPr>
              <a:t>Внешний вид функционального блока «Вызов специалиста»</a:t>
            </a:r>
            <a:endParaRPr lang="ru-RU" sz="1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FC3343F-06B5-E24E-E779-A6B733563F77}"/>
              </a:ext>
            </a:extLst>
          </p:cNvPr>
          <p:cNvSpPr/>
          <p:nvPr/>
        </p:nvSpPr>
        <p:spPr>
          <a:xfrm>
            <a:off x="2628900" y="1550995"/>
            <a:ext cx="514350" cy="367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FE6EFF6-A0F7-B8FD-3903-D99C0F0F235A}"/>
              </a:ext>
            </a:extLst>
          </p:cNvPr>
          <p:cNvSpPr/>
          <p:nvPr/>
        </p:nvSpPr>
        <p:spPr>
          <a:xfrm>
            <a:off x="8429625" y="1558187"/>
            <a:ext cx="514350" cy="367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FB02AE2-D88E-E27F-8804-CFB54C9CDD08}"/>
              </a:ext>
            </a:extLst>
          </p:cNvPr>
          <p:cNvSpPr/>
          <p:nvPr/>
        </p:nvSpPr>
        <p:spPr>
          <a:xfrm>
            <a:off x="5379787" y="4428957"/>
            <a:ext cx="514350" cy="367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649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47AD-6EAB-D91B-F81F-B7B96C3CC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244A044-7C74-94A6-F5E1-DF5A11195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7CADBD-26ED-2BF5-7873-601FF6F0F10F}"/>
              </a:ext>
            </a:extLst>
          </p:cNvPr>
          <p:cNvSpPr txBox="1"/>
          <p:nvPr/>
        </p:nvSpPr>
        <p:spPr>
          <a:xfrm>
            <a:off x="0" y="18097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Разработка интерфейса сайта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EF4A7-75B1-0105-A787-8B3CCCB06862}"/>
              </a:ext>
            </a:extLst>
          </p:cNvPr>
          <p:cNvSpPr txBox="1"/>
          <p:nvPr/>
        </p:nvSpPr>
        <p:spPr>
          <a:xfrm>
            <a:off x="1871458" y="1045469"/>
            <a:ext cx="3373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</a:rPr>
              <a:t>Вид итогов</a:t>
            </a:r>
            <a:endParaRPr lang="ru-R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A4F246-5660-E27A-1DE6-525BD62BB454}"/>
              </a:ext>
            </a:extLst>
          </p:cNvPr>
          <p:cNvSpPr txBox="1"/>
          <p:nvPr/>
        </p:nvSpPr>
        <p:spPr>
          <a:xfrm>
            <a:off x="6463928" y="1006000"/>
            <a:ext cx="523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Сообщение о успешной заявке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9886A2-B341-95A5-CB9D-09F010838EFB}"/>
              </a:ext>
            </a:extLst>
          </p:cNvPr>
          <p:cNvPicPr/>
          <p:nvPr/>
        </p:nvPicPr>
        <p:blipFill rotWithShape="1">
          <a:blip r:embed="rId3"/>
          <a:srcRect t="10020"/>
          <a:stretch/>
        </p:blipFill>
        <p:spPr>
          <a:xfrm>
            <a:off x="1229394" y="1453489"/>
            <a:ext cx="4506220" cy="24312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5EA978-0CA9-E514-062D-E3DB5071A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008" y="1480601"/>
            <a:ext cx="4317290" cy="23736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91EEE6C-32F2-2868-9269-A90650008E9C}"/>
              </a:ext>
            </a:extLst>
          </p:cNvPr>
          <p:cNvSpPr/>
          <p:nvPr/>
        </p:nvSpPr>
        <p:spPr>
          <a:xfrm>
            <a:off x="8449457" y="1453489"/>
            <a:ext cx="514350" cy="367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72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B6C7B-2FEA-D90F-5A2F-13609DA1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вода, Бирюза, туман, Цвет морской волны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98EA7E-23DF-16FD-C3CE-2B5EC67B3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E8DE19-344F-4D98-7BF0-FD7AE98AC620}"/>
              </a:ext>
            </a:extLst>
          </p:cNvPr>
          <p:cNvSpPr txBox="1"/>
          <p:nvPr/>
        </p:nvSpPr>
        <p:spPr>
          <a:xfrm>
            <a:off x="0" y="180975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u-RU" sz="3200" dirty="0">
                <a:solidFill>
                  <a:schemeClr val="bg1"/>
                </a:solidFill>
                <a:latin typeface="Arial Black" panose="020B0A04020102020204" pitchFamily="34" charset="0"/>
              </a:rPr>
              <a:t>Тестирование прототипа на группе пользователей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992830-8996-1556-FCA6-832978A99E10}"/>
              </a:ext>
            </a:extLst>
          </p:cNvPr>
          <p:cNvSpPr txBox="1"/>
          <p:nvPr/>
        </p:nvSpPr>
        <p:spPr>
          <a:xfrm>
            <a:off x="1193372" y="2017019"/>
            <a:ext cx="3373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Тестирование производительности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F1924A-214E-3E4D-B641-6E2A1B4FCB19}"/>
              </a:ext>
            </a:extLst>
          </p:cNvPr>
          <p:cNvSpPr txBox="1"/>
          <p:nvPr/>
        </p:nvSpPr>
        <p:spPr>
          <a:xfrm>
            <a:off x="6225803" y="1225192"/>
            <a:ext cx="5238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Arial Black" panose="020B0A04020102020204" pitchFamily="34" charset="0"/>
              </a:rPr>
              <a:t>Тестирование мобильной версии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2EBB794-E857-BF99-87C7-177048DAA1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7931" y="2737450"/>
            <a:ext cx="4104456" cy="21488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ED2951C-8149-C9F8-7B73-37A8E036111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640" y="1705602"/>
            <a:ext cx="2100274" cy="48030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7AA4B4-B022-172D-C829-8F4FB9E844A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914" y="1704819"/>
            <a:ext cx="2337633" cy="4803861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86FEC9E-2E56-02C0-E884-CAAC87C75A68}"/>
              </a:ext>
            </a:extLst>
          </p:cNvPr>
          <p:cNvSpPr/>
          <p:nvPr/>
        </p:nvSpPr>
        <p:spPr>
          <a:xfrm>
            <a:off x="7029450" y="2295525"/>
            <a:ext cx="514350" cy="3678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8592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374</Words>
  <Application>Microsoft Office PowerPoint</Application>
  <PresentationFormat>Широкоэкранный</PresentationFormat>
  <Paragraphs>45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Мухаммед Харсиев</dc:creator>
  <cp:lastModifiedBy>Admin</cp:lastModifiedBy>
  <cp:revision>2</cp:revision>
  <dcterms:created xsi:type="dcterms:W3CDTF">2026-01-12T21:43:52Z</dcterms:created>
  <dcterms:modified xsi:type="dcterms:W3CDTF">2026-01-14T12:31:53Z</dcterms:modified>
</cp:coreProperties>
</file>